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【4つの不：不信】まずは延期のご連絡へのお礼から。本日は売り込みではなく、お話を伺う場であることを冒頭で伝える。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【不要】説明よりお伺いに時間を割くことを明示。時間配分の確認で「途中退席の予定はないか」も確認する。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【不信】『この会社に任せて大丈夫か』を崩すパート。10分以内に収め、事例は相手の関心が出てから補足する。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一覧は流す程度に。上段3つ（RPA・議事録AI・与信）が調達・定型業務と関係しやすい想定。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【不要】ここが本日の山場。4つはあくまで仮説。『どれが一番近いですか』と聞き、外れたら素直に修正する。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【不適】反応があった行だけ深掘り。効果・金額はこの場で約束しない。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【不急】④で『いつまでに』を必ず聞く。【決裁】⑤で決裁者・親会社承認の要否をさりげなく確認。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ゴールの確認：次回の日程・テーマ・ご同席者（実務担当者）をこの場で決める。お客様と『戦友』として一緒に社内へ進める姿勢を伝える。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-/tak-evac/assets/b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" y="585216"/>
            <a:ext cx="10058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u="sng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株式会社TAKイーヴァック　　御中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197864" y="2798064"/>
            <a:ext cx="9802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定型業務・調達業務の効率化に向けて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801368" y="3584448"/>
            <a:ext cx="8595360" cy="585216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01368" y="3584448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初回お打ち合わせ資料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2304288" y="4288536"/>
            <a:ext cx="7534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67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2026年10月1日（木）</a:t>
            </a:r>
            <a:endParaRPr lang="en-US" sz="1867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67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thomas株式会社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本日の進め方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約60分のお時間をいただきます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6152" y="1280160"/>
            <a:ext cx="4846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280160"/>
            <a:ext cx="73152" cy="1234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44752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本日の目的 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72184" y="1700784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調達業務・定型業務の現状とお困りごとをお伺いし、弊社でお手伝いできる点を一緒に整理すること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0488" y="1280160"/>
            <a:ext cx="4846320" cy="12344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90488" y="1280160"/>
            <a:ext cx="73152" cy="123444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本日のゴール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700784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次回までに詳しく確認するテーマと、ご同席いただく方を決めること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6152" y="2788920"/>
          <a:ext cx="9820656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260336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No.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ご挨拶・本日の目的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thomasのご紹介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B63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B63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現状とお困りごとのお伺い（本日の中心）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B63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お手伝いできることのイメージ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今後の進め方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thomasについて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会社概要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6152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thomas株式会社（thomas Inc.）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創業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2018年6月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東京本社（六本木）／福岡支社／京都支社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主な事業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システム開発／SaaSソリューション提供／MVNO提供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資本金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1億2,656万円（資本準備金含む）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単体53名（アルバイト含む）、グループ計70名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022592" y="1280160"/>
            <a:ext cx="401421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022592" y="1280160"/>
            <a:ext cx="73152" cy="9601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251192" y="13716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200社以上のご支援 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278624" y="1700784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業種・業態を問わず、スタートアップから大手上場企業までご支援しています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022592" y="2359152"/>
            <a:ext cx="401421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22592" y="2359152"/>
            <a:ext cx="73152" cy="9601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51192" y="2450592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業務整理から定着まで一貫 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278624" y="2779776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業務分析・要件定義から設計・構築、導入後の定着までを一つのチームで担います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22592" y="3438144"/>
            <a:ext cx="401421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22592" y="3438144"/>
            <a:ext cx="73152" cy="9601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51192" y="352958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全社員がAI資格を保有 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78624" y="3858768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生成AIを自社業務でも活用し、その知見をご提案に活かしています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thomasがご提供するサービス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ご状況に合わせて組み合わせてご提案します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6152" y="128016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280160"/>
            <a:ext cx="73152" cy="23317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44752" y="137160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業務自動化（RPA） 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72184" y="170078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請求書作成・データ連携など、毎日・毎月発生する定型作業をロボットが代行します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35424" y="128016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5424" y="1280160"/>
            <a:ext cx="73152" cy="23317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64024" y="137160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議事録AI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91456" y="170078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会議・通話の録音から、文字起こし・要約までを自動化します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54696" y="128016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54696" y="1280160"/>
            <a:ext cx="73152" cy="2331720"/>
          </a:xfrm>
          <a:prstGeom prst="rect">
            <a:avLst/>
          </a:prstGeom>
          <a:solidFill>
            <a:srgbClr val="EB6311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3296" y="137160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与信管理DX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10728" y="170078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帝国データバンクの与信情報を取得し、評点に変化があればチャットで自動通知します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216152" y="374904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16152" y="3749040"/>
            <a:ext cx="73152" cy="2331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44752" y="384048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Smart CRM 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72184" y="416966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Salesforceを基盤にした顧客・案件管理。導入から定着までの支援を利用料に含みます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35424" y="374904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35424" y="3749040"/>
            <a:ext cx="73152" cy="2331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4024" y="384048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AIデータ統合・経営ダッシュボード 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91456" y="416966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社内に散らばったデータを整理し、生成AIで分析・見える化します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54696" y="3749040"/>
            <a:ext cx="318211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54696" y="3749040"/>
            <a:ext cx="73152" cy="2331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83296" y="3840480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業務改善コンサルティング 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10728" y="4169664"/>
            <a:ext cx="2770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業務の棚卸し・要件定義から構築まで、一気通貫でご支援します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調達業務でよく伺うお困りごと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設備工事業で一般的に見られる例です。貴社の実際のご状況を本日お伺いさせてください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6152" y="1371600"/>
            <a:ext cx="2352294" cy="26517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371600"/>
            <a:ext cx="73152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44752" y="1463040"/>
            <a:ext cx="2032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見積の収集・比較 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72184" y="1792224"/>
            <a:ext cx="194081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複数の業者から届く見積書（PDF・紙・Excel）を、比較表に手で転記している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05606" y="1371600"/>
            <a:ext cx="2352294" cy="26517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5606" y="1371600"/>
            <a:ext cx="73152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4206" y="1463040"/>
            <a:ext cx="2032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発注書・帳票の作成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61638" y="1792224"/>
            <a:ext cx="194081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発注書・注文請書などを作成し、基幹システムにも同じ内容を入力している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5060" y="1371600"/>
            <a:ext cx="2352294" cy="26517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5060" y="1371600"/>
            <a:ext cx="73152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3660" y="1463040"/>
            <a:ext cx="2032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工事ごとの調達状況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51092" y="1792224"/>
            <a:ext cx="194081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どの現場で何を・いつまでに手配済みかが、担当者のExcelやメールに分散している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4514" y="1371600"/>
            <a:ext cx="2352294" cy="26517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4514" y="1371600"/>
            <a:ext cx="73152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13114" y="1463040"/>
            <a:ext cx="2032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取引先の与信確認 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40546" y="1792224"/>
            <a:ext cx="194081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協力会社・仕入先の経営状況の確認が、新規取引時の一度きりになっている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216152" y="4343400"/>
            <a:ext cx="982065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16152" y="4343400"/>
            <a:ext cx="9820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当てはまるもの・当てはまらないもの、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ほかにお困りのことがあれば、お聞かせください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お手伝いできることのイメージ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お困りごとと、考えられる対応の例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6152" y="1280160"/>
          <a:ext cx="982065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57216"/>
                <a:gridCol w="228600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お困りごとの例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考えられる対応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関連サービス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見積の収集・比較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見積書の内容を読み取り、比較表へ自動で反映する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RPA／AI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発注書・帳票の作成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決まった手順の作成・転記・システム入力をロボットが代行する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RPA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工事ごとの調達状況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現場・発注・納期の情報を一か所に集め、状況を一覧で見られるようにする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Smart CRM／ダッシュボード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取引先の与信確認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取引先の与信情報を定期取得し、変化があれば担当者へ通知する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与信管理DX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業者・社内との打合せ記録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会議の録音から議事録と要約を自動で作成する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議事録AI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216152" y="5715000"/>
            <a:ext cx="9820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実際に適用できるか、どの程度の効果があるかは、業務の詳細を確認したうえでご提案いたします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本日お伺いしたいこと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差し支えない範囲でお聞かせください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6152" y="1389888"/>
            <a:ext cx="566928" cy="566928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16152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93392" y="128016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調達業務の流れ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73752" y="1280160"/>
            <a:ext cx="6163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見積依頼から発注・納品・支払いまでの流れと、関わる部署・人数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16152" y="2157984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2322576"/>
            <a:ext cx="566928" cy="566928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16152" y="2322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93392" y="221284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手間がかかっている作業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73752" y="2212848"/>
            <a:ext cx="6163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転記・集計・確認など、繰り返し発生している作業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16152" y="3090672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16152" y="3255264"/>
            <a:ext cx="566928" cy="566928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6152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93392" y="314553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お使いのシステム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873752" y="3145536"/>
            <a:ext cx="6163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基幹システム・Excel・メールなど、現在の道具とその使い分け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16152" y="4023360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16152" y="4187952"/>
            <a:ext cx="566928" cy="566928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1615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93392" y="407822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優先したいこと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73752" y="4078224"/>
            <a:ext cx="6163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まず解決したいことと、いつ頃までに変えたいか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216152" y="4956048"/>
            <a:ext cx="9820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16152" y="5120640"/>
            <a:ext cx="566928" cy="566928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16152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993392" y="501091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ご検討の進め方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873752" y="5010912"/>
            <a:ext cx="6163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このようなご相談を進める際の、社内のご相談先やご判断の流れ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152" y="384048"/>
            <a:ext cx="9820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今後の進め方（案）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6152" y="795528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小さく確かめながら進めます</a:t>
            </a:r>
            <a:endParaRPr lang="en-US" sz="1200" dirty="0"/>
          </a:p>
        </p:txBody>
      </p:sp>
      <p:pic>
        <p:nvPicPr>
          <p:cNvPr id="4" name="Image 0" descr="/home/user/-/tak-evac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1996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6152" y="1280160"/>
            <a:ext cx="2352294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6152" y="1280160"/>
            <a:ext cx="73152" cy="21945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1417320"/>
            <a:ext cx="329184" cy="329184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01368" y="1399032"/>
            <a:ext cx="1620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本日のお伺い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1828800"/>
            <a:ext cx="19682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現状とお困りごとを伺い、テーマの候補を挙げる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05606" y="1280160"/>
            <a:ext cx="2352294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5606" y="128016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06774" y="14173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06774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90822" y="1399032"/>
            <a:ext cx="1620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業務の詳細確認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06774" y="1828800"/>
            <a:ext cx="19682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実務ご担当者様も交え、対象業務の流れと手間を確認する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95060" y="1280160"/>
            <a:ext cx="2352294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5060" y="128016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96228" y="141732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62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80276" y="1399032"/>
            <a:ext cx="1620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96228" y="1828800"/>
            <a:ext cx="19682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効果が見込める業務を選び、進め方と概算をご提示する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684514" y="1280160"/>
            <a:ext cx="2352294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4514" y="1280160"/>
            <a:ext cx="73152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85682" y="141732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85682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269730" y="1399032"/>
            <a:ext cx="1620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小さく試す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885682" y="1828800"/>
            <a:ext cx="19682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デモや一部業務での検証で、使えるかを確かめる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16152" y="3794760"/>
            <a:ext cx="9820656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B631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90472" y="3931920"/>
            <a:ext cx="9272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3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本日決めたいこと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490472" y="4343400"/>
            <a:ext cx="9272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・次回、詳しく確認するテーマ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・次回の日程と、ご同席いただく方（実務ご担当者様など）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-/tak-evac/assets/b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112772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you!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457200" y="4663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thomas株式会社　宮川 晋之介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2026-10-01T00:41:50Z</dcterms:created>
  <dcterms:modified xsi:type="dcterms:W3CDTF">2026-10-01T00:41:50Z</dcterms:modified>
</cp:coreProperties>
</file>