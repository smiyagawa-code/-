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【不信】8/28の延期のご連絡へのお礼から入る。今日は売り込みではなく、お話を伺う場であることを伝える。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【不要】説明よりお伺いに時間を割くことを示す。途中退席の予定がないかもここで確認する。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【不信】『この会社に相談して大丈夫か』を崩すパート。10分以内で終える。事例は相手の関心が出てから補足する。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【不要】本日の山場。4つは仮説。『どれが一番近いですか』と聞き、外れたら素直に直す。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【不適】反応があった行だけ深掘り。効果・金額・連携可否はこの場で約束しない。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【不急】④で『いつまでに』を必ず聞く。【決裁】⑤で決裁者・親会社承認の要否をさりげなく確認する。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次回の日程・テーマ・同席者をこの場で決める。お客様と『戦友』として、一緒に社内へ進める姿勢を伝える。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-/tak-evac/src/assets/bg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38912" y="585216"/>
            <a:ext cx="10058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u="sng" dirty="0">
                <a:solidFill>
                  <a:srgbClr val="002060"/>
                </a:solidFill>
                <a:uFill>
                  <a:solidFill>
                    <a:srgbClr val="002060"/>
                  </a:solidFill>
                </a:u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株式会社TAKイーヴァック　　御中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197864" y="2798064"/>
            <a:ext cx="9802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定型業務・調達業務の効率化に向けて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1801368" y="3584448"/>
            <a:ext cx="8595360" cy="585216"/>
          </a:xfrm>
          <a:prstGeom prst="rect">
            <a:avLst/>
          </a:prstGeom>
          <a:solidFill>
            <a:srgbClr val="EB6311"/>
          </a:solidFill>
          <a:ln w="12700">
            <a:solidFill>
              <a:srgbClr val="EB631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801368" y="3584448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33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初回お打ち合わせ資料</a:t>
            </a:r>
            <a:endParaRPr lang="en-US" sz="2133" dirty="0"/>
          </a:p>
        </p:txBody>
      </p:sp>
      <p:sp>
        <p:nvSpPr>
          <p:cNvPr id="7" name="Text 4"/>
          <p:cNvSpPr/>
          <p:nvPr/>
        </p:nvSpPr>
        <p:spPr>
          <a:xfrm>
            <a:off x="2304288" y="4288536"/>
            <a:ext cx="75346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867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2026年10月1日（木）</a:t>
            </a:r>
            <a:endParaRPr lang="en-US" sz="1867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867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thomas株式会社</a:t>
            </a:r>
            <a:endParaRPr lang="en-US" sz="186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16152" y="411480"/>
            <a:ext cx="9820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本日のお打ち合わせについて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16152" y="1024128"/>
            <a:ext cx="1097280" cy="0"/>
          </a:xfrm>
          <a:prstGeom prst="line">
            <a:avLst/>
          </a:prstGeom>
          <a:noFill/>
          <a:ln w="31750">
            <a:solidFill>
              <a:srgbClr val="EB6311"/>
            </a:solidFill>
            <a:prstDash val="solid"/>
          </a:ln>
        </p:spPr>
      </p:sp>
      <p:pic>
        <p:nvPicPr>
          <p:cNvPr id="4" name="Image 0" descr="/home/user/-/tak-evac/src/assets/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199632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16152" y="1600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3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3685032" y="1600200"/>
            <a:ext cx="7351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調達業務・定型業務の現状とお困りごとを伺い、弊社がお手伝いできる点を一緒に整理する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16152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3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最後に決めたいこと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85032" y="2743200"/>
            <a:ext cx="7351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次回、詳しく確認するテーマと、ご同席いただく方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216152" y="3931920"/>
            <a:ext cx="982065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16152" y="4069080"/>
            <a:ext cx="9820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時間配分（約60分）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261872" y="4572000"/>
            <a:ext cx="1872691" cy="10972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2" name="Text 9"/>
          <p:cNvSpPr/>
          <p:nvPr/>
        </p:nvSpPr>
        <p:spPr>
          <a:xfrm>
            <a:off x="1261872" y="4754880"/>
            <a:ext cx="187269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5分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ご挨拶・本日の目的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226003" y="4572000"/>
            <a:ext cx="1872691" cy="10972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4" name="Text 11"/>
          <p:cNvSpPr/>
          <p:nvPr/>
        </p:nvSpPr>
        <p:spPr>
          <a:xfrm>
            <a:off x="3226003" y="4754880"/>
            <a:ext cx="187269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10分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thomasのご紹介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190134" y="4572000"/>
            <a:ext cx="1872691" cy="109728"/>
          </a:xfrm>
          <a:prstGeom prst="rect">
            <a:avLst/>
          </a:prstGeom>
          <a:solidFill>
            <a:srgbClr val="EB6311"/>
          </a:solidFill>
          <a:ln/>
        </p:spPr>
      </p:sp>
      <p:sp>
        <p:nvSpPr>
          <p:cNvPr id="16" name="Text 13"/>
          <p:cNvSpPr/>
          <p:nvPr/>
        </p:nvSpPr>
        <p:spPr>
          <a:xfrm>
            <a:off x="5190134" y="4754880"/>
            <a:ext cx="187269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3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30分</a:t>
            </a:r>
            <a:endParaRPr lang="en-US" sz="20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B63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お困りごとのお伺い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7154266" y="4572000"/>
            <a:ext cx="1872691" cy="10972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18" name="Text 15"/>
          <p:cNvSpPr/>
          <p:nvPr/>
        </p:nvSpPr>
        <p:spPr>
          <a:xfrm>
            <a:off x="7154266" y="4754880"/>
            <a:ext cx="187269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10分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お手伝いの例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9118397" y="4572000"/>
            <a:ext cx="1872691" cy="109728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20" name="Text 17"/>
          <p:cNvSpPr/>
          <p:nvPr/>
        </p:nvSpPr>
        <p:spPr>
          <a:xfrm>
            <a:off x="9118397" y="4754880"/>
            <a:ext cx="187269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5分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今後の進め方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16152" y="411480"/>
            <a:ext cx="9820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thomasについて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16152" y="1024128"/>
            <a:ext cx="1097280" cy="0"/>
          </a:xfrm>
          <a:prstGeom prst="line">
            <a:avLst/>
          </a:prstGeom>
          <a:noFill/>
          <a:ln w="31750">
            <a:solidFill>
              <a:srgbClr val="EB63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16152" y="1115568"/>
            <a:ext cx="9820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業務の整理からシステムの導入・定着まで、一貫してご支援しています</a:t>
            </a:r>
            <a:endParaRPr lang="en-US" sz="1500" dirty="0"/>
          </a:p>
        </p:txBody>
      </p:sp>
      <p:pic>
        <p:nvPicPr>
          <p:cNvPr id="5" name="Image 0" descr="/home/user/-/tak-evac/src/assets/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1996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07592" y="1737360"/>
            <a:ext cx="2272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2018年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307592" y="2423160"/>
            <a:ext cx="22722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671316" y="1783080"/>
            <a:ext cx="0" cy="11887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762756" y="1737360"/>
            <a:ext cx="2272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200社以上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3762756" y="2423160"/>
            <a:ext cx="22722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のご支援実績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26480" y="1783080"/>
            <a:ext cx="0" cy="11887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1737360"/>
            <a:ext cx="2272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3拠点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217920" y="2423160"/>
            <a:ext cx="22722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東京本社・福岡・京都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581644" y="1783080"/>
            <a:ext cx="0" cy="11887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73084" y="1737360"/>
            <a:ext cx="2272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全社員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673084" y="2423160"/>
            <a:ext cx="22722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AI資格を保有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16152" y="3383280"/>
            <a:ext cx="9820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主なサービス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216152" y="3959352"/>
            <a:ext cx="64008" cy="502920"/>
          </a:xfrm>
          <a:prstGeom prst="rect">
            <a:avLst/>
          </a:prstGeom>
          <a:solidFill>
            <a:srgbClr val="EB6311"/>
          </a:solidFill>
          <a:ln/>
        </p:spPr>
      </p:sp>
      <p:sp>
        <p:nvSpPr>
          <p:cNvPr id="19" name="Text 16"/>
          <p:cNvSpPr/>
          <p:nvPr/>
        </p:nvSpPr>
        <p:spPr>
          <a:xfrm>
            <a:off x="1399032" y="3886200"/>
            <a:ext cx="4544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業務自動化（RPA）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繰り返しのパソコン作業をロボットが代行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26480" y="3959352"/>
            <a:ext cx="64008" cy="502920"/>
          </a:xfrm>
          <a:prstGeom prst="rect">
            <a:avLst/>
          </a:prstGeom>
          <a:solidFill>
            <a:srgbClr val="EB6311"/>
          </a:solidFill>
          <a:ln/>
        </p:spPr>
      </p:sp>
      <p:sp>
        <p:nvSpPr>
          <p:cNvPr id="21" name="Text 18"/>
          <p:cNvSpPr/>
          <p:nvPr/>
        </p:nvSpPr>
        <p:spPr>
          <a:xfrm>
            <a:off x="6309360" y="3886200"/>
            <a:ext cx="4544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議事録AI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会議・通話の文字起こしと要約を自動化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216152" y="4672584"/>
            <a:ext cx="64008" cy="502920"/>
          </a:xfrm>
          <a:prstGeom prst="rect">
            <a:avLst/>
          </a:prstGeom>
          <a:solidFill>
            <a:srgbClr val="EB6311"/>
          </a:solidFill>
          <a:ln/>
        </p:spPr>
      </p:sp>
      <p:sp>
        <p:nvSpPr>
          <p:cNvPr id="23" name="Text 20"/>
          <p:cNvSpPr/>
          <p:nvPr/>
        </p:nvSpPr>
        <p:spPr>
          <a:xfrm>
            <a:off x="1399032" y="4599432"/>
            <a:ext cx="4544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与信管理DX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取引先の与信情報を定期取得し、変化を通知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126480" y="4672584"/>
            <a:ext cx="64008" cy="502920"/>
          </a:xfrm>
          <a:prstGeom prst="rect">
            <a:avLst/>
          </a:prstGeom>
          <a:solidFill>
            <a:srgbClr val="EB6311"/>
          </a:solidFill>
          <a:ln/>
        </p:spPr>
      </p:sp>
      <p:sp>
        <p:nvSpPr>
          <p:cNvPr id="25" name="Text 22"/>
          <p:cNvSpPr/>
          <p:nvPr/>
        </p:nvSpPr>
        <p:spPr>
          <a:xfrm>
            <a:off x="6309360" y="4599432"/>
            <a:ext cx="4544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Smart CRM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Salesforceを基盤にした顧客・案件管理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216152" y="5385816"/>
            <a:ext cx="64008" cy="502920"/>
          </a:xfrm>
          <a:prstGeom prst="rect">
            <a:avLst/>
          </a:prstGeom>
          <a:solidFill>
            <a:srgbClr val="EB6311"/>
          </a:solidFill>
          <a:ln/>
        </p:spPr>
      </p:sp>
      <p:sp>
        <p:nvSpPr>
          <p:cNvPr id="27" name="Text 24"/>
          <p:cNvSpPr/>
          <p:nvPr/>
        </p:nvSpPr>
        <p:spPr>
          <a:xfrm>
            <a:off x="1399032" y="5312664"/>
            <a:ext cx="4544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AIデータ統合・ダッシュボード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散らばったデータを整理し、見える化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126480" y="5385816"/>
            <a:ext cx="64008" cy="502920"/>
          </a:xfrm>
          <a:prstGeom prst="rect">
            <a:avLst/>
          </a:prstGeom>
          <a:solidFill>
            <a:srgbClr val="EB6311"/>
          </a:solidFill>
          <a:ln/>
        </p:spPr>
      </p:sp>
      <p:sp>
        <p:nvSpPr>
          <p:cNvPr id="29" name="Text 26"/>
          <p:cNvSpPr/>
          <p:nvPr/>
        </p:nvSpPr>
        <p:spPr>
          <a:xfrm>
            <a:off x="6309360" y="5312664"/>
            <a:ext cx="4544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業務改善コンサルティング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業務の棚卸しから構築まで一貫して支援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16152" y="411480"/>
            <a:ext cx="9820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調達業務で手間が生まれやすいところ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16152" y="1024128"/>
            <a:ext cx="1097280" cy="0"/>
          </a:xfrm>
          <a:prstGeom prst="line">
            <a:avLst/>
          </a:prstGeom>
          <a:noFill/>
          <a:ln w="31750">
            <a:solidFill>
              <a:srgbClr val="EB63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16152" y="1115568"/>
            <a:ext cx="9820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設備工事業で一般的に見られる例です。貴社の実際のご状況を本日お伺いさせてください</a:t>
            </a:r>
            <a:endParaRPr lang="en-US" sz="1500" dirty="0"/>
          </a:p>
        </p:txBody>
      </p:sp>
      <p:pic>
        <p:nvPicPr>
          <p:cNvPr id="5" name="Image 0" descr="/home/user/-/tak-evac/src/assets/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199632"/>
            <a:ext cx="457200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16152" y="1783080"/>
            <a:ext cx="1730045" cy="1051560"/>
          </a:xfrm>
          <a:prstGeom prst="roundRect">
            <a:avLst>
              <a:gd name="adj" fmla="val 6957"/>
            </a:avLst>
          </a:prstGeom>
          <a:solidFill>
            <a:srgbClr val="002060"/>
          </a:solidFill>
          <a:ln/>
        </p:spPr>
      </p:sp>
      <p:sp>
        <p:nvSpPr>
          <p:cNvPr id="7" name="Text 4"/>
          <p:cNvSpPr/>
          <p:nvPr/>
        </p:nvSpPr>
        <p:spPr>
          <a:xfrm>
            <a:off x="1216152" y="1783080"/>
            <a:ext cx="173004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業者選定・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見積依頼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991917" y="2180844"/>
            <a:ext cx="201168" cy="256032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9" name="Shape 6"/>
          <p:cNvSpPr/>
          <p:nvPr/>
        </p:nvSpPr>
        <p:spPr>
          <a:xfrm>
            <a:off x="1880006" y="2743200"/>
            <a:ext cx="402336" cy="402336"/>
          </a:xfrm>
          <a:prstGeom prst="ellipse">
            <a:avLst/>
          </a:prstGeom>
          <a:solidFill>
            <a:srgbClr val="EB63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880006" y="2743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238805" y="1783080"/>
            <a:ext cx="1730045" cy="1051560"/>
          </a:xfrm>
          <a:prstGeom prst="roundRect">
            <a:avLst>
              <a:gd name="adj" fmla="val 6957"/>
            </a:avLst>
          </a:prstGeom>
          <a:solidFill>
            <a:srgbClr val="002060"/>
          </a:solidFill>
          <a:ln/>
        </p:spPr>
      </p:sp>
      <p:sp>
        <p:nvSpPr>
          <p:cNvPr id="12" name="Text 9"/>
          <p:cNvSpPr/>
          <p:nvPr/>
        </p:nvSpPr>
        <p:spPr>
          <a:xfrm>
            <a:off x="3238805" y="1783080"/>
            <a:ext cx="173004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見積比較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14570" y="2180844"/>
            <a:ext cx="201168" cy="256032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4" name="Shape 11"/>
          <p:cNvSpPr/>
          <p:nvPr/>
        </p:nvSpPr>
        <p:spPr>
          <a:xfrm>
            <a:off x="3902659" y="2743200"/>
            <a:ext cx="402336" cy="402336"/>
          </a:xfrm>
          <a:prstGeom prst="ellipse">
            <a:avLst/>
          </a:prstGeom>
          <a:solidFill>
            <a:srgbClr val="EB63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902659" y="2743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261458" y="1783080"/>
            <a:ext cx="1730045" cy="1051560"/>
          </a:xfrm>
          <a:prstGeom prst="roundRect">
            <a:avLst>
              <a:gd name="adj" fmla="val 6957"/>
            </a:avLst>
          </a:prstGeom>
          <a:solidFill>
            <a:srgbClr val="002060"/>
          </a:solidFill>
          <a:ln/>
        </p:spPr>
      </p:sp>
      <p:sp>
        <p:nvSpPr>
          <p:cNvPr id="17" name="Text 14"/>
          <p:cNvSpPr/>
          <p:nvPr/>
        </p:nvSpPr>
        <p:spPr>
          <a:xfrm>
            <a:off x="5261458" y="1783080"/>
            <a:ext cx="173004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037222" y="2180844"/>
            <a:ext cx="201168" cy="256032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9" name="Shape 16"/>
          <p:cNvSpPr/>
          <p:nvPr/>
        </p:nvSpPr>
        <p:spPr>
          <a:xfrm>
            <a:off x="5925312" y="2743200"/>
            <a:ext cx="402336" cy="402336"/>
          </a:xfrm>
          <a:prstGeom prst="ellipse">
            <a:avLst/>
          </a:prstGeom>
          <a:solidFill>
            <a:srgbClr val="EB63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25312" y="2743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284110" y="1783080"/>
            <a:ext cx="1730045" cy="1051560"/>
          </a:xfrm>
          <a:prstGeom prst="roundRect">
            <a:avLst>
              <a:gd name="adj" fmla="val 6957"/>
            </a:avLst>
          </a:prstGeom>
          <a:solidFill>
            <a:srgbClr val="002060"/>
          </a:solidFill>
          <a:ln/>
        </p:spPr>
      </p:sp>
      <p:sp>
        <p:nvSpPr>
          <p:cNvPr id="22" name="Text 19"/>
          <p:cNvSpPr/>
          <p:nvPr/>
        </p:nvSpPr>
        <p:spPr>
          <a:xfrm>
            <a:off x="7284110" y="1783080"/>
            <a:ext cx="173004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納期・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手配状況の管理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9059875" y="2180844"/>
            <a:ext cx="201168" cy="256032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4" name="Shape 21"/>
          <p:cNvSpPr/>
          <p:nvPr/>
        </p:nvSpPr>
        <p:spPr>
          <a:xfrm>
            <a:off x="7947965" y="2743200"/>
            <a:ext cx="402336" cy="402336"/>
          </a:xfrm>
          <a:prstGeom prst="ellipse">
            <a:avLst/>
          </a:prstGeom>
          <a:solidFill>
            <a:srgbClr val="EB631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947965" y="2743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306763" y="1783080"/>
            <a:ext cx="1730045" cy="1051560"/>
          </a:xfrm>
          <a:prstGeom prst="roundRect">
            <a:avLst>
              <a:gd name="adj" fmla="val 6957"/>
            </a:avLst>
          </a:prstGeom>
          <a:solidFill>
            <a:srgbClr val="002060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1783080"/>
            <a:ext cx="173004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検収・支払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1216152" y="3547872"/>
            <a:ext cx="402336" cy="402336"/>
          </a:xfrm>
          <a:prstGeom prst="ellipse">
            <a:avLst/>
          </a:prstGeom>
          <a:solidFill>
            <a:srgbClr val="EB6311"/>
          </a:solidFill>
          <a:ln/>
        </p:spPr>
      </p:sp>
      <p:sp>
        <p:nvSpPr>
          <p:cNvPr id="29" name="Text 26"/>
          <p:cNvSpPr/>
          <p:nvPr/>
        </p:nvSpPr>
        <p:spPr>
          <a:xfrm>
            <a:off x="121615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764792" y="3429000"/>
            <a:ext cx="4133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取引先の経営状況の確認が、新規取引時の一度きりになっている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126480" y="3547872"/>
            <a:ext cx="402336" cy="402336"/>
          </a:xfrm>
          <a:prstGeom prst="ellipse">
            <a:avLst/>
          </a:prstGeom>
          <a:solidFill>
            <a:srgbClr val="EB6311"/>
          </a:solidFill>
          <a:ln/>
        </p:spPr>
      </p:sp>
      <p:sp>
        <p:nvSpPr>
          <p:cNvPr id="32" name="Text 29"/>
          <p:cNvSpPr/>
          <p:nvPr/>
        </p:nvSpPr>
        <p:spPr>
          <a:xfrm>
            <a:off x="612648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675120" y="3429000"/>
            <a:ext cx="4133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複数業者の見積（PDF・紙・Excel）を、比較表へ手で転記している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1216152" y="4462272"/>
            <a:ext cx="402336" cy="402336"/>
          </a:xfrm>
          <a:prstGeom prst="ellipse">
            <a:avLst/>
          </a:prstGeom>
          <a:solidFill>
            <a:srgbClr val="EB6311"/>
          </a:solidFill>
          <a:ln/>
        </p:spPr>
      </p:sp>
      <p:sp>
        <p:nvSpPr>
          <p:cNvPr id="35" name="Text 32"/>
          <p:cNvSpPr/>
          <p:nvPr/>
        </p:nvSpPr>
        <p:spPr>
          <a:xfrm>
            <a:off x="1216152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1764792" y="4343400"/>
            <a:ext cx="4133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発注書を作り、基幹システムにも同じ内容を入力している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6126480" y="4462272"/>
            <a:ext cx="402336" cy="402336"/>
          </a:xfrm>
          <a:prstGeom prst="ellipse">
            <a:avLst/>
          </a:prstGeom>
          <a:solidFill>
            <a:srgbClr val="EB6311"/>
          </a:solidFill>
          <a:ln/>
        </p:spPr>
      </p:sp>
      <p:sp>
        <p:nvSpPr>
          <p:cNvPr id="38" name="Text 35"/>
          <p:cNvSpPr/>
          <p:nvPr/>
        </p:nvSpPr>
        <p:spPr>
          <a:xfrm>
            <a:off x="6126480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6675120" y="4343400"/>
            <a:ext cx="4133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現場ごとの手配状況が、担当者のExcelやメールに分散している</a:t>
            </a:r>
            <a:endParaRPr lang="en-US" sz="1700" dirty="0"/>
          </a:p>
        </p:txBody>
      </p:sp>
      <p:sp>
        <p:nvSpPr>
          <p:cNvPr id="40" name="Text 37"/>
          <p:cNvSpPr/>
          <p:nvPr/>
        </p:nvSpPr>
        <p:spPr>
          <a:xfrm>
            <a:off x="1216152" y="5440680"/>
            <a:ext cx="9820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当てはまるもの・当てはまらないもの、ほかのお困りごとをお聞かせください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16152" y="411480"/>
            <a:ext cx="9820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お手伝いできることの例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16152" y="1024128"/>
            <a:ext cx="1097280" cy="0"/>
          </a:xfrm>
          <a:prstGeom prst="line">
            <a:avLst/>
          </a:prstGeom>
          <a:noFill/>
          <a:ln w="31750">
            <a:solidFill>
              <a:srgbClr val="EB63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16152" y="1115568"/>
            <a:ext cx="9820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前ページの手間ごとに、考えられる対応です</a:t>
            </a:r>
            <a:endParaRPr lang="en-US" sz="1500" dirty="0"/>
          </a:p>
        </p:txBody>
      </p:sp>
      <p:pic>
        <p:nvPicPr>
          <p:cNvPr id="5" name="Image 0" descr="/home/user/-/tak-evac/src/assets/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199632"/>
            <a:ext cx="457200" cy="45720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16152" y="1691640"/>
          <a:ext cx="9820656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5020056"/>
                <a:gridCol w="2286000"/>
              </a:tblGrid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手間の例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対応の例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関連サービス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206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取引先の与信確認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415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与信情報を定期的に取得し、変化があれば担当者へ通知する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748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与信管理DX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206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見積の比較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415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見積書の内容を読み取り、比較表へ自動で反映する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748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RPA・AI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206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発注書の作成・入力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415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決まった手順の作成・転記・システム入力をロボットが代行する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748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RPA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206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④ 手配状況の管理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415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現場・発注・納期の情報を一か所に集め、一覧で見られるようにする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64748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Smart CRM・ダッシュボード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1216152" y="5760720"/>
            <a:ext cx="9820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実際に適用できるか、どの程度の効果があるかは、業務の詳細を確認したうえでご提案いたします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16152" y="411480"/>
            <a:ext cx="9820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本日お伺いしたいこと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16152" y="1024128"/>
            <a:ext cx="1097280" cy="0"/>
          </a:xfrm>
          <a:prstGeom prst="line">
            <a:avLst/>
          </a:prstGeom>
          <a:noFill/>
          <a:ln w="31750">
            <a:solidFill>
              <a:srgbClr val="EB63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16152" y="1115568"/>
            <a:ext cx="9820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差し支えない範囲でお聞かせください</a:t>
            </a:r>
            <a:endParaRPr lang="en-US" sz="1500" dirty="0"/>
          </a:p>
        </p:txBody>
      </p:sp>
      <p:pic>
        <p:nvPicPr>
          <p:cNvPr id="5" name="Image 0" descr="/home/user/-/tak-evac/src/assets/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199632"/>
            <a:ext cx="457200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16152" y="1755648"/>
            <a:ext cx="512064" cy="512064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7" name="Text 4"/>
          <p:cNvSpPr/>
          <p:nvPr/>
        </p:nvSpPr>
        <p:spPr>
          <a:xfrm>
            <a:off x="1216152" y="1755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47672" y="1645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調達業務の流れ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102352" y="1645920"/>
            <a:ext cx="5934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見積依頼から支払いまでの流れと、関わる部署・人数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1216152" y="2450592"/>
            <a:ext cx="9820656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16152" y="2624328"/>
            <a:ext cx="512064" cy="512064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12" name="Text 9"/>
          <p:cNvSpPr/>
          <p:nvPr/>
        </p:nvSpPr>
        <p:spPr>
          <a:xfrm>
            <a:off x="1216152" y="2624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947672" y="2514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手間がかかっている作業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102352" y="2514600"/>
            <a:ext cx="5934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転記・集計・確認など、繰り返し発生している作業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1216152" y="3319272"/>
            <a:ext cx="9820656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16152" y="3493008"/>
            <a:ext cx="512064" cy="512064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17" name="Text 14"/>
          <p:cNvSpPr/>
          <p:nvPr/>
        </p:nvSpPr>
        <p:spPr>
          <a:xfrm>
            <a:off x="1216152" y="34930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947672" y="33832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お使いのシステム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102352" y="3383280"/>
            <a:ext cx="5934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基幹システム・Excel・メールなど、現在の道具と使い分け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1216152" y="4187952"/>
            <a:ext cx="9820656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216152" y="4361688"/>
            <a:ext cx="512064" cy="512064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22" name="Text 19"/>
          <p:cNvSpPr/>
          <p:nvPr/>
        </p:nvSpPr>
        <p:spPr>
          <a:xfrm>
            <a:off x="1216152" y="43616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47672" y="4251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優先したいこと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5102352" y="4251960"/>
            <a:ext cx="5934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まず解決したいことと、いつ頃までに変えたいか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1216152" y="5056632"/>
            <a:ext cx="9820656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16152" y="5230368"/>
            <a:ext cx="512064" cy="512064"/>
          </a:xfrm>
          <a:prstGeom prst="ellipse">
            <a:avLst/>
          </a:prstGeom>
          <a:solidFill>
            <a:srgbClr val="002060"/>
          </a:solidFill>
          <a:ln/>
        </p:spPr>
      </p:sp>
      <p:sp>
        <p:nvSpPr>
          <p:cNvPr id="27" name="Text 24"/>
          <p:cNvSpPr/>
          <p:nvPr/>
        </p:nvSpPr>
        <p:spPr>
          <a:xfrm>
            <a:off x="1216152" y="5230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1947672" y="5120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ご検討の進め方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5102352" y="5120640"/>
            <a:ext cx="5934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社内のご相談先や、ご判断の流れ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16152" y="411480"/>
            <a:ext cx="9820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今後の進め方（案）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16152" y="1024128"/>
            <a:ext cx="1097280" cy="0"/>
          </a:xfrm>
          <a:prstGeom prst="line">
            <a:avLst/>
          </a:prstGeom>
          <a:noFill/>
          <a:ln w="31750">
            <a:solidFill>
              <a:srgbClr val="EB63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16152" y="1115568"/>
            <a:ext cx="9820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小さく確かめながら進めます</a:t>
            </a:r>
            <a:endParaRPr lang="en-US" sz="1500" dirty="0"/>
          </a:p>
        </p:txBody>
      </p:sp>
      <p:pic>
        <p:nvPicPr>
          <p:cNvPr id="5" name="Image 0" descr="/home/user/-/tak-evac/src/assets/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6199632"/>
            <a:ext cx="457200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443734" y="2011680"/>
            <a:ext cx="7365492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77974" y="1645920"/>
            <a:ext cx="731520" cy="731520"/>
          </a:xfrm>
          <a:prstGeom prst="ellipse">
            <a:avLst/>
          </a:prstGeom>
          <a:solidFill>
            <a:srgbClr val="EB631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77974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307592" y="2560320"/>
            <a:ext cx="2272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63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本日のお伺い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353312" y="3063240"/>
            <a:ext cx="2180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現状とお困りごとを伺い、テーマの候補を挙げる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533138" y="1645920"/>
            <a:ext cx="731520" cy="731520"/>
          </a:xfrm>
          <a:prstGeom prst="ellipse">
            <a:avLst/>
          </a:prstGeom>
          <a:solidFill>
            <a:srgbClr val="00206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33138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3762756" y="2560320"/>
            <a:ext cx="2272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業務の詳細確認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808476" y="3063240"/>
            <a:ext cx="2180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実務ご担当者様も交え、対象業務の流れと手間を確認する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988302" y="1645920"/>
            <a:ext cx="731520" cy="731520"/>
          </a:xfrm>
          <a:prstGeom prst="ellipse">
            <a:avLst/>
          </a:prstGeom>
          <a:solidFill>
            <a:srgbClr val="00206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88302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6217920" y="2560320"/>
            <a:ext cx="2272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263640" y="3063240"/>
            <a:ext cx="2180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効果が見込める業務を選び、進め方と概算をご提示する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443466" y="1645920"/>
            <a:ext cx="731520" cy="731520"/>
          </a:xfrm>
          <a:prstGeom prst="ellipse">
            <a:avLst/>
          </a:prstGeom>
          <a:solidFill>
            <a:srgbClr val="00206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43466" y="1645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8673084" y="2560320"/>
            <a:ext cx="2272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小さく試す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718804" y="3063240"/>
            <a:ext cx="2180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デモや一部業務での検証で、使えるかを確かめる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1216152" y="4434840"/>
            <a:ext cx="9820656" cy="1325880"/>
          </a:xfrm>
          <a:prstGeom prst="rect">
            <a:avLst/>
          </a:prstGeom>
          <a:solidFill>
            <a:srgbClr val="FFF7ED"/>
          </a:solidFill>
          <a:ln w="12700">
            <a:solidFill>
              <a:srgbClr val="EB631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536192" y="443484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3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本日決めたいこと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4142232" y="4434840"/>
            <a:ext cx="66202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次回、詳しく確認するテーマ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次回の日程と、ご同席いただく方（実務ご担当者様など）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-/tak-evac/src/assets/bg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377440"/>
            <a:ext cx="112772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thank you!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457200" y="46634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0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thomas株式会社　宮川 晋之介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2026-10-01T01:52:36Z</dcterms:created>
  <dcterms:modified xsi:type="dcterms:W3CDTF">2026-10-01T01:52:36Z</dcterms:modified>
</cp:coreProperties>
</file>