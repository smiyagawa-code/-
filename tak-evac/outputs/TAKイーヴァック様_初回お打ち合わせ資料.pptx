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【不信】8/28の延期のご連絡へのお礼から入る。今日は売り込みではなく、お話を伺う場であることを伝える。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【不要】お伺いに一番時間を割くことを示す。途中退席の予定がないかもここで確認する。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【不信】『この会社に相談して大丈夫か』を崩すパート。5分程度で終え、次のナレッジベースに時間を回す。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【不要】大きな入口。会社全体の話として共感を得る。『御社でも、この人に聞かないと分からない、という場面はありますか』と問いかけ、次のページへ。3つは一般的な話で、TAK様の事実ではない。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信・不適】thomasの議事録AIとAIデータ統合を組み合わせた考え方。社名を出せる事例ではないので、他社名は口頭でも出さない。セキュリティ（社外に出したくない）の質問が出たら、環境を確認して決めると答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大きな話から調達業務へ移る橋渡し。質問例は仮の例。佐藤様の業務に近い質問を一つ挙げていただけると次につながる。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【不要】小さな話題に入る。4つは仮説。『どれが一番近いですか』と聞き、外れたら素直に直す。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【不適】反応があった行だけ深掘り。効果・金額・連携可否はこの場で約束しない。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【不急】⑤で『いつまでに』を必ず聞く。【決裁】⑥で決裁者・親会社承認の要否をさりげなく確認する。④でクラウド利用のルールも確認。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次回の日程・テーマ・同席者をこの場で決める。お客様と『戦友』として、一緒に社内へ進める姿勢を伝える。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-/tak-evac/src/assets/b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" y="585216"/>
            <a:ext cx="10058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u="sng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株式会社TAKイーヴァック　　御中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197864" y="2798064"/>
            <a:ext cx="9802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現場の知恵を残し、調達業務の手間を減らす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801368" y="3584448"/>
            <a:ext cx="8595360" cy="585216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01368" y="3584448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初回お打ち合わせ資料</a:t>
            </a:r>
            <a:endParaRPr lang="en-US" sz="2133" dirty="0"/>
          </a:p>
        </p:txBody>
      </p:sp>
      <p:sp>
        <p:nvSpPr>
          <p:cNvPr id="7" name="Text 4"/>
          <p:cNvSpPr/>
          <p:nvPr/>
        </p:nvSpPr>
        <p:spPr>
          <a:xfrm>
            <a:off x="2304288" y="4288536"/>
            <a:ext cx="7534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67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2026年10月1日（木）</a:t>
            </a:r>
            <a:endParaRPr lang="en-US" sz="1867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867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thomas株式会社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本日のお打ち合わせについて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pic>
        <p:nvPicPr>
          <p:cNvPr id="4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6152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85032" y="1600200"/>
            <a:ext cx="7351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現場の知恵の残し方と、調達業務・定型業務のお困りごとを伺い、お手伝いできる点を一緒に整理する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16152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最後に決めたいこと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85032" y="2743200"/>
            <a:ext cx="7351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次回、詳しく確認するテーマと、ご同席いただく方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16152" y="3931920"/>
            <a:ext cx="982065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4069080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時間配分（約60分）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61872" y="4572000"/>
            <a:ext cx="1872691" cy="109728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2" name="Text 9"/>
          <p:cNvSpPr/>
          <p:nvPr/>
        </p:nvSpPr>
        <p:spPr>
          <a:xfrm>
            <a:off x="1261872" y="4754880"/>
            <a:ext cx="18726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ご挨拶・ご紹介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26003" y="4572000"/>
            <a:ext cx="1872691" cy="109728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4" name="Text 11"/>
          <p:cNvSpPr/>
          <p:nvPr/>
        </p:nvSpPr>
        <p:spPr>
          <a:xfrm>
            <a:off x="3226003" y="4754880"/>
            <a:ext cx="18726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ナレッジベース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190134" y="4572000"/>
            <a:ext cx="1872691" cy="109728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16" name="Text 13"/>
          <p:cNvSpPr/>
          <p:nvPr/>
        </p:nvSpPr>
        <p:spPr>
          <a:xfrm>
            <a:off x="5190134" y="4754880"/>
            <a:ext cx="18726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25分</a:t>
            </a: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お困りごとのお伺い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154266" y="4572000"/>
            <a:ext cx="1872691" cy="109728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7154266" y="4754880"/>
            <a:ext cx="18726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お手伝いの例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118397" y="4572000"/>
            <a:ext cx="1872691" cy="109728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0" name="Text 17"/>
          <p:cNvSpPr/>
          <p:nvPr/>
        </p:nvSpPr>
        <p:spPr>
          <a:xfrm>
            <a:off x="9118397" y="4754880"/>
            <a:ext cx="18726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今後の進め方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thomasについて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業務の整理からシステムの導入・定着まで、一貫してご支援しています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7592" y="173736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2018年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07592" y="2423160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創業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71316" y="1783080"/>
            <a:ext cx="0" cy="1188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2756" y="173736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200社以上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762756" y="2423160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のご支援実績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0" cy="1188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173736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3拠点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217920" y="2423160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東京本社・福岡・京都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581644" y="1783080"/>
            <a:ext cx="0" cy="1188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73084" y="1737360"/>
            <a:ext cx="2272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全社員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673084" y="2423160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AI資格を保有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16152" y="3383280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主なサービス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216152" y="3959352"/>
            <a:ext cx="64008" cy="502920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19" name="Text 16"/>
          <p:cNvSpPr/>
          <p:nvPr/>
        </p:nvSpPr>
        <p:spPr>
          <a:xfrm>
            <a:off x="1399032" y="3886200"/>
            <a:ext cx="4544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議事録AI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会議・通話の文字起こしと要約を自動化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26480" y="3959352"/>
            <a:ext cx="64008" cy="502920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3886200"/>
            <a:ext cx="4544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AIデータ統合・ダッシュボード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散らばったデータを整理し、AIで活用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16152" y="4672584"/>
            <a:ext cx="64008" cy="502920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23" name="Text 20"/>
          <p:cNvSpPr/>
          <p:nvPr/>
        </p:nvSpPr>
        <p:spPr>
          <a:xfrm>
            <a:off x="1399032" y="4599432"/>
            <a:ext cx="4544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業務自動化（RPA）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繰り返しのパソコン作業をロボットが代行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26480" y="4672584"/>
            <a:ext cx="64008" cy="502920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25" name="Text 22"/>
          <p:cNvSpPr/>
          <p:nvPr/>
        </p:nvSpPr>
        <p:spPr>
          <a:xfrm>
            <a:off x="6309360" y="4599432"/>
            <a:ext cx="4544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与信管理DX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取引先の与信情報を定期取得し、変化を通知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16152" y="5385816"/>
            <a:ext cx="64008" cy="502920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27" name="Text 24"/>
          <p:cNvSpPr/>
          <p:nvPr/>
        </p:nvSpPr>
        <p:spPr>
          <a:xfrm>
            <a:off x="1399032" y="5312664"/>
            <a:ext cx="4544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Smart CRM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Salesforceを基盤にした顧客・案件管理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26480" y="5385816"/>
            <a:ext cx="64008" cy="502920"/>
          </a:xfrm>
          <a:prstGeom prst="rect">
            <a:avLst/>
          </a:prstGeom>
          <a:solidFill>
            <a:srgbClr val="EB6311"/>
          </a:solidFill>
          <a:ln/>
        </p:spPr>
      </p:sp>
      <p:sp>
        <p:nvSpPr>
          <p:cNvPr id="29" name="Text 26"/>
          <p:cNvSpPr/>
          <p:nvPr/>
        </p:nvSpPr>
        <p:spPr>
          <a:xfrm>
            <a:off x="6309360" y="5312664"/>
            <a:ext cx="4544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業務改善コンサルティング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業務の棚卸しから構築まで一貫して支援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ベテランの判断や段取りは、どこに残っていますか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建設・設備のお客様から、よく伺うお話です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6152" y="1691640"/>
            <a:ext cx="4206240" cy="315468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216152" y="1691640"/>
            <a:ext cx="4206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IMG-01（イラスト作成待ち）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42432" y="1911096"/>
            <a:ext cx="457200" cy="457200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9" name="Text 6"/>
          <p:cNvSpPr/>
          <p:nvPr/>
        </p:nvSpPr>
        <p:spPr>
          <a:xfrm>
            <a:off x="574243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82512" y="1783080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判断の理由や段取りが、ベテランの頭の中にしかない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742432" y="2935224"/>
            <a:ext cx="457200" cy="457200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12" name="Text 9"/>
          <p:cNvSpPr/>
          <p:nvPr/>
        </p:nvSpPr>
        <p:spPr>
          <a:xfrm>
            <a:off x="5742432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82512" y="2807208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若手からの確認が特定の人に集中し、その方の手が止まる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742432" y="3959352"/>
            <a:ext cx="457200" cy="457200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15" name="Text 12"/>
          <p:cNvSpPr/>
          <p:nvPr/>
        </p:nvSpPr>
        <p:spPr>
          <a:xfrm>
            <a:off x="574243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82512" y="3831336"/>
            <a:ext cx="4654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経験者が異動・退職すると、同じ仕事が回らなくなる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216152" y="5166360"/>
            <a:ext cx="9820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貴社では、いかがでしょうか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話すだけで貯まる、御社専用のナレッジベース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会議や打ち合わせで話した内容が、そのまま社内の知恵として残り、必要なときに引き出せます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6152" y="1783080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002060"/>
          </a:solidFill>
          <a:ln/>
        </p:spPr>
      </p:sp>
      <p:sp>
        <p:nvSpPr>
          <p:cNvPr id="7" name="Text 4"/>
          <p:cNvSpPr/>
          <p:nvPr/>
        </p:nvSpPr>
        <p:spPr>
          <a:xfrm>
            <a:off x="1216152" y="1783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16152" y="25146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会議・打ち合わせ・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引き継ぎの会話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511296" y="1975104"/>
            <a:ext cx="182880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7"/>
          <p:cNvSpPr/>
          <p:nvPr/>
        </p:nvSpPr>
        <p:spPr>
          <a:xfrm>
            <a:off x="3739896" y="1783080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3739896" y="1783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文字にする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739896" y="25146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録音から文字起こしと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要約を自動で作成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35040" y="1975104"/>
            <a:ext cx="182880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1783080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002060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783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整理して貯める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263640" y="25146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テーマ・現場・取引先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ごとに整理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558784" y="1975104"/>
            <a:ext cx="182880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8" name="Shape 15"/>
          <p:cNvSpPr/>
          <p:nvPr/>
        </p:nvSpPr>
        <p:spPr>
          <a:xfrm>
            <a:off x="8787384" y="1783080"/>
            <a:ext cx="2249424" cy="640080"/>
          </a:xfrm>
          <a:prstGeom prst="roundRect">
            <a:avLst>
              <a:gd name="adj" fmla="val 11429"/>
            </a:avLst>
          </a:prstGeom>
          <a:solidFill>
            <a:srgbClr val="EB6311"/>
          </a:solidFill>
          <a:ln/>
        </p:spPr>
      </p:sp>
      <p:sp>
        <p:nvSpPr>
          <p:cNvPr id="19" name="Text 16"/>
          <p:cNvSpPr/>
          <p:nvPr/>
        </p:nvSpPr>
        <p:spPr>
          <a:xfrm>
            <a:off x="8787384" y="1783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質問して引き出す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787384" y="25146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必要なときに、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言葉で聞いて答えを得る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216152" y="3429000"/>
            <a:ext cx="384048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216152" y="34290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IMG-02（イラスト作成待ち）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0952" y="3474720"/>
            <a:ext cx="5705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キーボード入力は不要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話した内容が材料になるので、書く手間を増やしません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貯めるだけでなく、引き出せる形に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若手が使える整理の仕方を、業務を伺いながら一緒に設計します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16152" y="5897880"/>
            <a:ext cx="9820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データの置き場所や使う道具は、貴社の環境とルールを確認したうえでご提案します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たとえば調達業務なら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ナレッジベースに聞けば、ベテランに確認しなくても次の一手が分かるようになります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96328" y="1691640"/>
            <a:ext cx="38404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196328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IMG-03（イラスト作成待ち）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16152" y="178308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53312" y="1783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10512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この業者に前回お願いしたとき、気をつけた点は？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216152" y="278892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7889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810512" y="2788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この資材の見積で、必ず確認すべき項目は？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216152" y="379476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53312" y="3794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810512" y="3794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急ぎの手配のとき、誰に何を確認すればよい？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216152" y="5074920"/>
            <a:ext cx="982065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16152" y="5166360"/>
            <a:ext cx="9820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さらに、見積の転記や発注書の作成など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手作業そのものも、仕組みで減らせます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調達業務で手間が生まれやすいところ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設備工事業で一般的に見られる例です。貴社の実際のご状況を本日お伺いさせてください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6152" y="1783080"/>
            <a:ext cx="1730045" cy="1051560"/>
          </a:xfrm>
          <a:prstGeom prst="roundRect">
            <a:avLst>
              <a:gd name="adj" fmla="val 6957"/>
            </a:avLst>
          </a:prstGeom>
          <a:solidFill>
            <a:srgbClr val="002060"/>
          </a:solidFill>
          <a:ln/>
        </p:spPr>
      </p:sp>
      <p:sp>
        <p:nvSpPr>
          <p:cNvPr id="7" name="Text 4"/>
          <p:cNvSpPr/>
          <p:nvPr/>
        </p:nvSpPr>
        <p:spPr>
          <a:xfrm>
            <a:off x="1216152" y="1783080"/>
            <a:ext cx="17300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業者選定・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見積依頼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91917" y="2180844"/>
            <a:ext cx="201168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9" name="Shape 6"/>
          <p:cNvSpPr/>
          <p:nvPr/>
        </p:nvSpPr>
        <p:spPr>
          <a:xfrm>
            <a:off x="1880006" y="2743200"/>
            <a:ext cx="402336" cy="402336"/>
          </a:xfrm>
          <a:prstGeom prst="ellipse">
            <a:avLst/>
          </a:prstGeom>
          <a:solidFill>
            <a:srgbClr val="EB63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0006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38805" y="1783080"/>
            <a:ext cx="1730045" cy="1051560"/>
          </a:xfrm>
          <a:prstGeom prst="roundRect">
            <a:avLst>
              <a:gd name="adj" fmla="val 6957"/>
            </a:avLst>
          </a:prstGeom>
          <a:solidFill>
            <a:srgbClr val="002060"/>
          </a:solidFill>
          <a:ln/>
        </p:spPr>
      </p:sp>
      <p:sp>
        <p:nvSpPr>
          <p:cNvPr id="12" name="Text 9"/>
          <p:cNvSpPr/>
          <p:nvPr/>
        </p:nvSpPr>
        <p:spPr>
          <a:xfrm>
            <a:off x="3238805" y="1783080"/>
            <a:ext cx="17300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見積比較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14570" y="2180844"/>
            <a:ext cx="201168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4" name="Shape 11"/>
          <p:cNvSpPr/>
          <p:nvPr/>
        </p:nvSpPr>
        <p:spPr>
          <a:xfrm>
            <a:off x="3902659" y="2743200"/>
            <a:ext cx="402336" cy="402336"/>
          </a:xfrm>
          <a:prstGeom prst="ellipse">
            <a:avLst/>
          </a:prstGeom>
          <a:solidFill>
            <a:srgbClr val="EB63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02659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261458" y="1783080"/>
            <a:ext cx="1730045" cy="1051560"/>
          </a:xfrm>
          <a:prstGeom prst="roundRect">
            <a:avLst>
              <a:gd name="adj" fmla="val 6957"/>
            </a:avLst>
          </a:prstGeom>
          <a:solidFill>
            <a:srgbClr val="002060"/>
          </a:solidFill>
          <a:ln/>
        </p:spPr>
      </p:sp>
      <p:sp>
        <p:nvSpPr>
          <p:cNvPr id="17" name="Text 14"/>
          <p:cNvSpPr/>
          <p:nvPr/>
        </p:nvSpPr>
        <p:spPr>
          <a:xfrm>
            <a:off x="5261458" y="1783080"/>
            <a:ext cx="17300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037222" y="2180844"/>
            <a:ext cx="201168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9" name="Shape 16"/>
          <p:cNvSpPr/>
          <p:nvPr/>
        </p:nvSpPr>
        <p:spPr>
          <a:xfrm>
            <a:off x="5925312" y="2743200"/>
            <a:ext cx="402336" cy="402336"/>
          </a:xfrm>
          <a:prstGeom prst="ellipse">
            <a:avLst/>
          </a:prstGeom>
          <a:solidFill>
            <a:srgbClr val="EB63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2531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284110" y="1783080"/>
            <a:ext cx="1730045" cy="1051560"/>
          </a:xfrm>
          <a:prstGeom prst="roundRect">
            <a:avLst>
              <a:gd name="adj" fmla="val 6957"/>
            </a:avLst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7284110" y="1783080"/>
            <a:ext cx="17300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納期・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手配状況の管理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9059875" y="2180844"/>
            <a:ext cx="201168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1"/>
          <p:cNvSpPr/>
          <p:nvPr/>
        </p:nvSpPr>
        <p:spPr>
          <a:xfrm>
            <a:off x="7947965" y="2743200"/>
            <a:ext cx="402336" cy="402336"/>
          </a:xfrm>
          <a:prstGeom prst="ellipse">
            <a:avLst/>
          </a:prstGeom>
          <a:solidFill>
            <a:srgbClr val="EB63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47965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306763" y="1783080"/>
            <a:ext cx="1730045" cy="1051560"/>
          </a:xfrm>
          <a:prstGeom prst="roundRect">
            <a:avLst>
              <a:gd name="adj" fmla="val 6957"/>
            </a:avLst>
          </a:prstGeom>
          <a:solidFill>
            <a:srgbClr val="002060"/>
          </a:solidFill>
          <a:ln/>
        </p:spPr>
      </p:sp>
      <p:sp>
        <p:nvSpPr>
          <p:cNvPr id="27" name="Text 24"/>
          <p:cNvSpPr/>
          <p:nvPr/>
        </p:nvSpPr>
        <p:spPr>
          <a:xfrm>
            <a:off x="9306763" y="1783080"/>
            <a:ext cx="173004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検収・支払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1216152" y="3547872"/>
            <a:ext cx="402336" cy="402336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29" name="Text 26"/>
          <p:cNvSpPr/>
          <p:nvPr/>
        </p:nvSpPr>
        <p:spPr>
          <a:xfrm>
            <a:off x="121615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764792" y="3429000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取引先の経営状況の確認が、新規取引時の一度きりになっている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126480" y="3547872"/>
            <a:ext cx="402336" cy="402336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32" name="Text 29"/>
          <p:cNvSpPr/>
          <p:nvPr/>
        </p:nvSpPr>
        <p:spPr>
          <a:xfrm>
            <a:off x="612648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75120" y="3429000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複数業者の見積（PDF・紙・Excel）を、比較表へ手で転記している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1216152" y="4462272"/>
            <a:ext cx="402336" cy="402336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35" name="Text 32"/>
          <p:cNvSpPr/>
          <p:nvPr/>
        </p:nvSpPr>
        <p:spPr>
          <a:xfrm>
            <a:off x="1216152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764792" y="4343400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発注書を作り、基幹システムにも同じ内容を入力している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6126480" y="4462272"/>
            <a:ext cx="402336" cy="402336"/>
          </a:xfrm>
          <a:prstGeom prst="ellipse">
            <a:avLst/>
          </a:prstGeom>
          <a:solidFill>
            <a:srgbClr val="EB6311"/>
          </a:solidFill>
          <a:ln/>
        </p:spPr>
      </p:sp>
      <p:sp>
        <p:nvSpPr>
          <p:cNvPr id="38" name="Text 35"/>
          <p:cNvSpPr/>
          <p:nvPr/>
        </p:nvSpPr>
        <p:spPr>
          <a:xfrm>
            <a:off x="612648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675120" y="4343400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現場ごとの手配状況が、担当者のExcelやメールに分散している</a:t>
            </a:r>
            <a:endParaRPr lang="en-US" sz="1700" dirty="0"/>
          </a:p>
        </p:txBody>
      </p:sp>
      <p:sp>
        <p:nvSpPr>
          <p:cNvPr id="40" name="Text 37"/>
          <p:cNvSpPr/>
          <p:nvPr/>
        </p:nvSpPr>
        <p:spPr>
          <a:xfrm>
            <a:off x="1216152" y="5440680"/>
            <a:ext cx="9820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当てはまるもの・当てはまらないもの、ほかのお困りごとをお聞かせください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お手伝いできることの例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伺ったお困りごとに合わせて、大きな仕組みと小さな改善を組み合わせます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6152" y="1645920"/>
          <a:ext cx="9820656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4928616"/>
                <a:gridCol w="2286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お困りごとの例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対応の例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関連サービス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B63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ベテランへの確認の集中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会話から知恵を貯め、若手が質問して引き出せるようにする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議事録AI・AIデータ統合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206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取引先の与信確認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与信情報を定期的に取得し、変化があれば担当者へ通知する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与信管理DX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206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見積の比較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見積書の内容を読み取り、比較表へ自動で反映する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RPA・AI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206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発注書の作成・入力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決まった手順の作成・転記・システム入力をロボットが代行する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RPA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206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手配状況の管理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現場・発注・納期の情報を一か所に集め、一覧で見られるようにする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Smart CRM・ダッシュボード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216152" y="5989320"/>
            <a:ext cx="9820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実際に適用できるか、どの程度の効果があるかは、業務の詳細を確認したうえでご提案いたします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本日お伺いしたいこと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差し支えない範囲でお聞かせください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6152" y="1691640"/>
            <a:ext cx="475488" cy="47548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7" name="Text 4"/>
          <p:cNvSpPr/>
          <p:nvPr/>
        </p:nvSpPr>
        <p:spPr>
          <a:xfrm>
            <a:off x="1216152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01952" y="16002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経験者に聞く場面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736592" y="1600200"/>
            <a:ext cx="6300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ベテランに確認しないと進まない仕事と、その頻度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16152" y="2304288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16152" y="2441448"/>
            <a:ext cx="475488" cy="47548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2" name="Text 9"/>
          <p:cNvSpPr/>
          <p:nvPr/>
        </p:nvSpPr>
        <p:spPr>
          <a:xfrm>
            <a:off x="1216152" y="2441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901952" y="2350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調達業務の流れ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736592" y="2350008"/>
            <a:ext cx="6300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見積依頼から支払いまでの流れと、関わる部署・人数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16152" y="3054096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16152" y="3191256"/>
            <a:ext cx="475488" cy="47548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7" name="Text 14"/>
          <p:cNvSpPr/>
          <p:nvPr/>
        </p:nvSpPr>
        <p:spPr>
          <a:xfrm>
            <a:off x="1216152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901952" y="30998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手間がかかる作業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736592" y="3099816"/>
            <a:ext cx="6300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転記・集計・確認など、繰り返し発生している作業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16152" y="3803904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16152" y="3941064"/>
            <a:ext cx="475488" cy="47548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1216152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901952" y="38496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お使いの環境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4736592" y="3849624"/>
            <a:ext cx="6300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基幹システム・Excel・会議の記録やファイルの置き場所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216152" y="4553712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16152" y="4690872"/>
            <a:ext cx="475488" cy="47548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/>
          <p:nvPr/>
        </p:nvSpPr>
        <p:spPr>
          <a:xfrm>
            <a:off x="1216152" y="4690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901952" y="45994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優先と時期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736592" y="4599432"/>
            <a:ext cx="6300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まず解決したいことと、いつ頃までに変えたいか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216152" y="5303520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16152" y="5440680"/>
            <a:ext cx="475488" cy="47548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2" name="Text 29"/>
          <p:cNvSpPr/>
          <p:nvPr/>
        </p:nvSpPr>
        <p:spPr>
          <a:xfrm>
            <a:off x="1216152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901952" y="5349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ご検討の進め方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4736592" y="5349240"/>
            <a:ext cx="6300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社内のご相談先や、ご判断の流れ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411480"/>
            <a:ext cx="982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今後の進め方（案）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16152" y="1024128"/>
            <a:ext cx="1097280" cy="0"/>
          </a:xfrm>
          <a:prstGeom prst="line">
            <a:avLst/>
          </a:prstGeom>
          <a:noFill/>
          <a:ln w="31750">
            <a:solidFill>
              <a:srgbClr val="EB6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6152" y="111556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小さく確かめながら進めます</a:t>
            </a:r>
            <a:endParaRPr lang="en-US" sz="1500" dirty="0"/>
          </a:p>
        </p:txBody>
      </p:sp>
      <p:pic>
        <p:nvPicPr>
          <p:cNvPr id="5" name="Image 0" descr="/home/user/-/tak-evac/sr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43734" y="2011680"/>
            <a:ext cx="7365492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77974" y="1645920"/>
            <a:ext cx="731520" cy="731520"/>
          </a:xfrm>
          <a:prstGeom prst="ellipse">
            <a:avLst/>
          </a:prstGeom>
          <a:solidFill>
            <a:srgbClr val="EB631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77974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07592" y="2560320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本日のお伺い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53312" y="3063240"/>
            <a:ext cx="2180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現状とお困りごとを伺い、テーマの候補を挙げる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33138" y="1645920"/>
            <a:ext cx="731520" cy="73152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3138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762756" y="2560320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業務の詳細確認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808476" y="3063240"/>
            <a:ext cx="2180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実務ご担当者様も交え、対象業務の流れと手間を確認する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88302" y="1645920"/>
            <a:ext cx="731520" cy="73152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8830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217920" y="2560320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63640" y="3063240"/>
            <a:ext cx="2180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効果が見込める業務を選び、進め方と概算をご提示する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443466" y="1645920"/>
            <a:ext cx="731520" cy="73152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43466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673084" y="2560320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小さく試す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18804" y="3063240"/>
            <a:ext cx="2180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デモや一部業務での検証で、使えるかを確かめる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16152" y="4434840"/>
            <a:ext cx="9820656" cy="1325880"/>
          </a:xfrm>
          <a:prstGeom prst="rect">
            <a:avLst/>
          </a:prstGeom>
          <a:solidFill>
            <a:srgbClr val="FFF7ED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36192" y="443484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本日決めたいこと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142232" y="4434840"/>
            <a:ext cx="6620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次回、詳しく確認するテーマ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次回の日程と、ご同席いただく方（実務ご担当者様など）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-/tak-evac/src/assets/b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112772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thank you!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457200" y="46634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thomas株式会社　宮川 晋之介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2026-10-01T02:31:00Z</dcterms:created>
  <dcterms:modified xsi:type="dcterms:W3CDTF">2026-10-01T02:31:00Z</dcterms:modified>
</cp:coreProperties>
</file>